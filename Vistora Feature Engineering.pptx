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9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51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6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62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02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31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34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5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56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3049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908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3539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82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65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40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1690C-EA9F-47D2-9F8E-63183925119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365EB5-5F37-4B4C-96D3-578491AB3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29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6475-C4CC-F4D4-2856-73BC32F2F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4504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err="1"/>
              <a:t>Vistora</a:t>
            </a:r>
            <a:r>
              <a:rPr lang="en-US" dirty="0"/>
              <a:t> Feature Engineering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8D1F7-F8CD-9D3D-377D-CE880CFD9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3826"/>
            <a:ext cx="9144000" cy="1655762"/>
          </a:xfrm>
        </p:spPr>
        <p:txBody>
          <a:bodyPr/>
          <a:lstStyle/>
          <a:p>
            <a:r>
              <a:rPr lang="en-IN" dirty="0"/>
              <a:t>A Data Feature Store using SQL and Snowflake</a:t>
            </a:r>
          </a:p>
          <a:p>
            <a:r>
              <a:rPr lang="en-IN" dirty="0"/>
              <a:t>Author: Susmitha Yeluri</a:t>
            </a:r>
          </a:p>
          <a:p>
            <a:r>
              <a:rPr lang="en-IN" dirty="0" err="1"/>
              <a:t>Vistora</a:t>
            </a:r>
            <a:r>
              <a:rPr lang="en-IN" dirty="0"/>
              <a:t> AI – AI/ML Internship Program</a:t>
            </a:r>
          </a:p>
        </p:txBody>
      </p:sp>
    </p:spTree>
    <p:extLst>
      <p:ext uri="{BB962C8B-B14F-4D97-AF65-F5344CB8AC3E}">
        <p14:creationId xmlns:p14="http://schemas.microsoft.com/office/powerpoint/2010/main" val="393108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57A12-B5F5-9D7F-3B67-7653AC38DF45}"/>
              </a:ext>
            </a:extLst>
          </p:cNvPr>
          <p:cNvSpPr txBox="1"/>
          <p:nvPr/>
        </p:nvSpPr>
        <p:spPr>
          <a:xfrm>
            <a:off x="493059" y="815787"/>
            <a:ext cx="1114312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dirty="0"/>
              <a:t>Project Overview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• Simulated real-world customer data in Snowflake.</a:t>
            </a:r>
          </a:p>
          <a:p>
            <a:pPr marL="0" indent="0">
              <a:buNone/>
            </a:pPr>
            <a:r>
              <a:rPr lang="en-US" sz="3600" dirty="0"/>
              <a:t>• Created synthetic datasets for customers, transactions, and web events.</a:t>
            </a:r>
          </a:p>
          <a:p>
            <a:pPr marL="0" indent="0">
              <a:buNone/>
            </a:pPr>
            <a:r>
              <a:rPr lang="en-US" sz="3600" dirty="0"/>
              <a:t>• Performed SQL-based feature engineering.</a:t>
            </a:r>
          </a:p>
          <a:p>
            <a:pPr marL="0" indent="0">
              <a:buNone/>
            </a:pPr>
            <a:r>
              <a:rPr lang="en-US" sz="3600" dirty="0"/>
              <a:t>• Aggregated key insights like total spend, transactions, and engagement.</a:t>
            </a:r>
          </a:p>
          <a:p>
            <a:pPr marL="0" indent="0">
              <a:buNone/>
            </a:pPr>
            <a:r>
              <a:rPr lang="en-US" sz="3600" dirty="0"/>
              <a:t>• Visualized results using Snowflake charts.</a:t>
            </a:r>
          </a:p>
        </p:txBody>
      </p:sp>
    </p:spTree>
    <p:extLst>
      <p:ext uri="{BB962C8B-B14F-4D97-AF65-F5344CB8AC3E}">
        <p14:creationId xmlns:p14="http://schemas.microsoft.com/office/powerpoint/2010/main" val="185427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B09F-75B8-489B-549A-FE0D55D3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6E5E66-0975-C175-9618-4380D0055E5B}"/>
              </a:ext>
            </a:extLst>
          </p:cNvPr>
          <p:cNvSpPr txBox="1"/>
          <p:nvPr/>
        </p:nvSpPr>
        <p:spPr>
          <a:xfrm>
            <a:off x="681318" y="734216"/>
            <a:ext cx="1004047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Database Setup in Snowflake</a:t>
            </a:r>
          </a:p>
          <a:p>
            <a:endParaRPr lang="en-IN" sz="3200" dirty="0"/>
          </a:p>
          <a:p>
            <a:r>
              <a:rPr lang="en-IN" sz="3200" dirty="0"/>
              <a:t>Database: VISTORA_DB</a:t>
            </a:r>
          </a:p>
          <a:p>
            <a:r>
              <a:rPr lang="en-IN" sz="3200" dirty="0"/>
              <a:t>* Schema: PUBLIC</a:t>
            </a:r>
          </a:p>
          <a:p>
            <a:r>
              <a:rPr lang="en-IN" sz="3200" dirty="0"/>
              <a:t>* Warehouse: COMPUTE_WH</a:t>
            </a:r>
          </a:p>
          <a:p>
            <a:r>
              <a:rPr lang="en-IN" sz="3200" dirty="0"/>
              <a:t>Commands Used:</a:t>
            </a:r>
          </a:p>
          <a:p>
            <a:r>
              <a:rPr lang="en-IN" sz="3200" dirty="0"/>
              <a:t>*USE ROLE ACCOUNTADMIN;</a:t>
            </a:r>
          </a:p>
          <a:p>
            <a:r>
              <a:rPr lang="en-IN" sz="3200" dirty="0"/>
              <a:t>*USE WAREHOUSE COMPUTE_WH;</a:t>
            </a:r>
          </a:p>
          <a:p>
            <a:r>
              <a:rPr lang="en-IN" sz="3200" dirty="0"/>
              <a:t>*USE DATABASE VISTORA_DB;</a:t>
            </a:r>
          </a:p>
          <a:p>
            <a:r>
              <a:rPr lang="en-IN" sz="3200" dirty="0"/>
              <a:t>*USE SCHEMA PUBLIC;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810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3F72-7EC2-BF45-FE8B-3CFA32FE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94E683-16C6-0177-8219-314FAF698EC0}"/>
              </a:ext>
            </a:extLst>
          </p:cNvPr>
          <p:cNvSpPr txBox="1"/>
          <p:nvPr/>
        </p:nvSpPr>
        <p:spPr>
          <a:xfrm>
            <a:off x="582706" y="429016"/>
            <a:ext cx="83102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Synthetic Data Generation</a:t>
            </a:r>
          </a:p>
          <a:p>
            <a:endParaRPr lang="en-IN" sz="3200" dirty="0"/>
          </a:p>
          <a:p>
            <a:r>
              <a:rPr lang="en-US" sz="3200" dirty="0"/>
              <a:t>• CUSTOMERS – 1,000 rows (IDs, names, emails)</a:t>
            </a:r>
          </a:p>
          <a:p>
            <a:endParaRPr lang="en-US" sz="3200" dirty="0"/>
          </a:p>
          <a:p>
            <a:r>
              <a:rPr lang="en-US" sz="3200" dirty="0"/>
              <a:t>• TRANSACTIONS – 10,000 rows (amount, category, payment type)</a:t>
            </a:r>
          </a:p>
          <a:p>
            <a:endParaRPr lang="en-US" sz="3200" dirty="0"/>
          </a:p>
          <a:p>
            <a:r>
              <a:rPr lang="en-US" sz="3200" dirty="0"/>
              <a:t>• WEB_EVENTS – 30,000 rows (page actions like view, click, purchase)</a:t>
            </a:r>
          </a:p>
          <a:p>
            <a:endParaRPr lang="en-US" sz="3200" dirty="0"/>
          </a:p>
          <a:p>
            <a:r>
              <a:rPr lang="en-US" sz="3200" dirty="0"/>
              <a:t>• Used Snowflake’s SEQ4() and GENERATOR() to simulate realistic data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10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C685-2B89-B203-27EA-C6F0AAB8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C48C36-4D81-3C2A-1C44-59345F28EE16}"/>
              </a:ext>
            </a:extLst>
          </p:cNvPr>
          <p:cNvSpPr txBox="1"/>
          <p:nvPr/>
        </p:nvSpPr>
        <p:spPr>
          <a:xfrm>
            <a:off x="609600" y="590781"/>
            <a:ext cx="60960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Feature Engineering</a:t>
            </a:r>
          </a:p>
          <a:p>
            <a:endParaRPr lang="en-IN" dirty="0"/>
          </a:p>
          <a:p>
            <a:r>
              <a:rPr lang="en-US" sz="3200" dirty="0"/>
              <a:t>-Joined customers, transactions, and web events.</a:t>
            </a:r>
          </a:p>
          <a:p>
            <a:r>
              <a:rPr lang="en-US" sz="3200" dirty="0"/>
              <a:t>-Computed:</a:t>
            </a:r>
          </a:p>
          <a:p>
            <a:r>
              <a:rPr lang="en-US" sz="3200" dirty="0"/>
              <a:t> - TOTAL_TRANSACTIONS</a:t>
            </a:r>
          </a:p>
          <a:p>
            <a:r>
              <a:rPr lang="en-US" sz="3200" dirty="0"/>
              <a:t> - TOTAL_SPENT</a:t>
            </a:r>
          </a:p>
          <a:p>
            <a:r>
              <a:rPr lang="en-US" sz="3200" dirty="0"/>
              <a:t> - TOTAL_WEB_EVENTS</a:t>
            </a:r>
          </a:p>
          <a:p>
            <a:r>
              <a:rPr lang="en-US" sz="3200" dirty="0"/>
              <a:t>  - ENGAGEMENT_SCORE</a:t>
            </a:r>
          </a:p>
          <a:p>
            <a:r>
              <a:rPr lang="en-US" sz="3200" dirty="0"/>
              <a:t>  - Used SQL CASE, SUM, and GROUP BY for aggregations.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2757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EFA5-077E-F9C2-C9E8-4BE2A4D7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A60F34-3573-BCCD-C24B-6A70F4478FCE}"/>
              </a:ext>
            </a:extLst>
          </p:cNvPr>
          <p:cNvSpPr txBox="1"/>
          <p:nvPr/>
        </p:nvSpPr>
        <p:spPr>
          <a:xfrm>
            <a:off x="448235" y="707323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Results and Visualization</a:t>
            </a:r>
          </a:p>
          <a:p>
            <a:endParaRPr lang="en-IN" sz="3200" dirty="0"/>
          </a:p>
          <a:p>
            <a:r>
              <a:rPr lang="en-US" sz="3200" dirty="0"/>
              <a:t>Verified data row counts:</a:t>
            </a:r>
          </a:p>
          <a:p>
            <a:r>
              <a:rPr lang="en-US" sz="3200" dirty="0"/>
              <a:t> CUSTOMERS → 1,000</a:t>
            </a:r>
          </a:p>
          <a:p>
            <a:r>
              <a:rPr lang="en-US" sz="3200" dirty="0"/>
              <a:t>  TRANSACTIONS → 10,000</a:t>
            </a:r>
          </a:p>
          <a:p>
            <a:r>
              <a:rPr lang="en-US" sz="3200" dirty="0"/>
              <a:t>   WEB_EVENTS → 30,000</a:t>
            </a:r>
          </a:p>
          <a:p>
            <a:r>
              <a:rPr lang="en-US" sz="3200" dirty="0"/>
              <a:t> Visualized top customers by spending.</a:t>
            </a:r>
          </a:p>
          <a:p>
            <a:r>
              <a:rPr lang="en-US" sz="3200" dirty="0"/>
              <a:t> Chart: TOTAL_SPENT vs CUSTOMER_ID (Line chart in Snowflake).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7014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0F30-7EF4-93E5-BCAD-2315F9036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1A288-FE24-2CBA-9631-9538FFF885C0}"/>
              </a:ext>
            </a:extLst>
          </p:cNvPr>
          <p:cNvSpPr txBox="1"/>
          <p:nvPr/>
        </p:nvSpPr>
        <p:spPr>
          <a:xfrm>
            <a:off x="663389" y="566678"/>
            <a:ext cx="6096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Learnings and Tools</a:t>
            </a:r>
          </a:p>
          <a:p>
            <a:endParaRPr lang="en-IN" sz="3200" dirty="0"/>
          </a:p>
          <a:p>
            <a:r>
              <a:rPr lang="en-US" sz="3200" dirty="0"/>
              <a:t>Hands-on experience with Snowflake SQL.</a:t>
            </a:r>
          </a:p>
          <a:p>
            <a:r>
              <a:rPr lang="en-US" sz="3200" dirty="0"/>
              <a:t>Learned to simulate large datasets efficiently.</a:t>
            </a:r>
          </a:p>
          <a:p>
            <a:r>
              <a:rPr lang="en-US" sz="3200" dirty="0"/>
              <a:t>Tools Used:</a:t>
            </a:r>
          </a:p>
          <a:p>
            <a:r>
              <a:rPr lang="en-US" sz="3200" dirty="0"/>
              <a:t> Snowflake</a:t>
            </a:r>
          </a:p>
          <a:p>
            <a:r>
              <a:rPr lang="en-US" sz="3200" dirty="0"/>
              <a:t> SQL</a:t>
            </a:r>
          </a:p>
          <a:p>
            <a:r>
              <a:rPr lang="en-US" sz="3200" dirty="0"/>
              <a:t> GitHub</a:t>
            </a:r>
          </a:p>
          <a:p>
            <a:r>
              <a:rPr lang="en-US" sz="3200" dirty="0"/>
              <a:t> PowerPoint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64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6704-4716-8A17-9771-AE9DF687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56EA4E-6F30-AA2E-4211-E6B5411984D7}"/>
              </a:ext>
            </a:extLst>
          </p:cNvPr>
          <p:cNvSpPr txBox="1"/>
          <p:nvPr/>
        </p:nvSpPr>
        <p:spPr>
          <a:xfrm>
            <a:off x="609600" y="796969"/>
            <a:ext cx="60960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Conclusion</a:t>
            </a:r>
          </a:p>
          <a:p>
            <a:endParaRPr lang="en-IN" sz="2800" dirty="0"/>
          </a:p>
          <a:p>
            <a:r>
              <a:rPr lang="en-US" sz="2800" dirty="0"/>
              <a:t>Built an end-to-end feature store in Snowflake.</a:t>
            </a:r>
          </a:p>
          <a:p>
            <a:r>
              <a:rPr lang="en-US" sz="2800" dirty="0"/>
              <a:t>Created analytical insights for ML readiness.</a:t>
            </a:r>
          </a:p>
          <a:p>
            <a:r>
              <a:rPr lang="en-US" sz="2800" dirty="0"/>
              <a:t>Deliverables:</a:t>
            </a:r>
          </a:p>
          <a:p>
            <a:r>
              <a:rPr lang="en-US" sz="2800" dirty="0"/>
              <a:t> SQL Script</a:t>
            </a:r>
          </a:p>
          <a:p>
            <a:r>
              <a:rPr lang="en-US" sz="2800" dirty="0"/>
              <a:t> Output Screenshot</a:t>
            </a:r>
          </a:p>
          <a:p>
            <a:r>
              <a:rPr lang="en-US" sz="2800" dirty="0"/>
              <a:t>  README</a:t>
            </a:r>
          </a:p>
          <a:p>
            <a:r>
              <a:rPr lang="en-US" sz="2800" dirty="0"/>
              <a:t>  PowerPoint</a:t>
            </a:r>
          </a:p>
          <a:p>
            <a:r>
              <a:rPr lang="en-US" sz="2800" dirty="0"/>
              <a:t>“Data becomes meaningful when transformed into actionable features.”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405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338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Vistora Feature Engineering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Susmitha Yeluri</dc:creator>
  <cp:lastModifiedBy>Susmitha Yeluri</cp:lastModifiedBy>
  <cp:revision>1</cp:revision>
  <dcterms:created xsi:type="dcterms:W3CDTF">2025-11-10T21:38:04Z</dcterms:created>
  <dcterms:modified xsi:type="dcterms:W3CDTF">2025-11-10T21:40:10Z</dcterms:modified>
</cp:coreProperties>
</file>